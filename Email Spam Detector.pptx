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55960"/>
            <a:ext cx="4160520" cy="2385360"/>
          </a:xfrm>
          <a:prstGeom prst="rect">
            <a:avLst/>
          </a:prstGeom>
          <a:noFill/>
          <a:ln w="0">
            <a:noFill/>
          </a:ln>
        </p:spPr>
        <p:txBody>
          <a:bodyPr lIns="91440" tIns="91440" rIns="91440" bIns="91440" anchor="b">
            <a:noAutofit/>
          </a:bodyPr>
          <a:lstStyle/>
          <a:p>
            <a:pPr indent="0">
              <a:buNone/>
            </a:pPr>
            <a:r>
              <a:rPr lang="fr-FR" sz="36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677520"/>
            <a:ext cx="5094360" cy="105840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5" name="Google Shape;312;p30"/>
          <p:cNvSpPr/>
          <p:nvPr/>
        </p:nvSpPr>
        <p:spPr>
          <a:xfrm>
            <a:off x="713160" y="3611880"/>
            <a:ext cx="509436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200" b="1" u="none" strike="noStrike">
                <a:solidFill>
                  <a:schemeClr val="dk1"/>
                </a:solidFill>
                <a:effectLst/>
                <a:uFillTx/>
                <a:latin typeface="DM Sans"/>
                <a:ea typeface="DM Sans"/>
              </a:rPr>
              <a:t>CREDITS:</a:t>
            </a:r>
            <a:r>
              <a:rPr lang="en" sz="1200" b="0" u="none" strike="noStrike">
                <a:solidFill>
                  <a:schemeClr val="dk1"/>
                </a:solidFill>
                <a:effectLst/>
                <a:uFillTx/>
                <a:latin typeface="DM Sans"/>
                <a:ea typeface="DM Sans"/>
              </a:rPr>
              <a:t> This presentation template was created by </a:t>
            </a:r>
            <a:r>
              <a:rPr lang="en" sz="1200" b="1" u="sng" strike="noStrike">
                <a:solidFill>
                  <a:schemeClr val="dk1"/>
                </a:solidFill>
                <a:effectLst/>
                <a:uFillTx/>
                <a:latin typeface="DM Sans"/>
                <a:ea typeface="DM Sans"/>
                <a:hlinkClick r:id="rId2"/>
              </a:rPr>
              <a:t>Slidesgo</a:t>
            </a:r>
            <a:r>
              <a:rPr lang="en" sz="1200" b="0" u="none" strike="noStrike">
                <a:solidFill>
                  <a:schemeClr val="dk1"/>
                </a:solidFill>
                <a:effectLst/>
                <a:uFillTx/>
                <a:latin typeface="DM Sans"/>
                <a:ea typeface="DM Sans"/>
              </a:rPr>
              <a:t>, and includes icons by </a:t>
            </a:r>
            <a:r>
              <a:rPr lang="en" sz="1200" b="1" u="sng" strike="noStrike">
                <a:solidFill>
                  <a:schemeClr val="dk1"/>
                </a:solidFill>
                <a:effectLst/>
                <a:uFillTx/>
                <a:latin typeface="DM Sans"/>
                <a:ea typeface="DM Sans"/>
                <a:hlinkClick r:id="rId3"/>
              </a:rPr>
              <a:t>Flaticon</a:t>
            </a:r>
            <a:r>
              <a:rPr lang="en" sz="1200" b="0" u="none" strike="noStrike">
                <a:solidFill>
                  <a:schemeClr val="dk1"/>
                </a:solidFill>
                <a:effectLst/>
                <a:uFillTx/>
                <a:latin typeface="DM Sans"/>
                <a:ea typeface="DM Sans"/>
              </a:rPr>
              <a:t>, and infographics &amp; images by </a:t>
            </a:r>
            <a:r>
              <a:rPr lang="en" sz="1200" b="1" u="sng" strike="noStrike">
                <a:solidFill>
                  <a:schemeClr val="dk1"/>
                </a:solidFill>
                <a:effectLst/>
                <a:uFillTx/>
                <a:latin typeface="DM Sans"/>
                <a:ea typeface="DM Sans"/>
                <a:hlinkClick r:id="rId4"/>
              </a:rPr>
              <a:t>Freepik</a:t>
            </a:r>
            <a:r>
              <a:rPr lang="en" sz="1200" b="0" u="sng" strike="noStrike">
                <a:solidFill>
                  <a:schemeClr val="dk1"/>
                </a:solidFill>
                <a:effectLst/>
                <a:uFillTx/>
                <a:latin typeface="DM Sans"/>
                <a:ea typeface="DM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6" name="Google Shape;16;p4"/>
          <p:cNvGrpSpPr/>
          <p:nvPr/>
        </p:nvGrpSpPr>
        <p:grpSpPr>
          <a:xfrm>
            <a:off x="-247320" y="-445680"/>
            <a:ext cx="9638640" cy="6029280"/>
            <a:chOff x="-247320" y="-445680"/>
            <a:chExt cx="9638640" cy="6029280"/>
          </a:xfrm>
        </p:grpSpPr>
        <p:sp>
          <p:nvSpPr>
            <p:cNvPr id="7"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6" name="PlaceHolder 2"/>
          <p:cNvSpPr>
            <a:spLocks noGrp="1"/>
          </p:cNvSpPr>
          <p:nvPr>
            <p:ph type="body"/>
          </p:nvPr>
        </p:nvSpPr>
        <p:spPr>
          <a:xfrm>
            <a:off x="720000" y="1215720"/>
            <a:ext cx="7703640" cy="397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Google Shape;346;p36"/>
          <p:cNvCxnSpPr/>
          <p:nvPr/>
        </p:nvCxnSpPr>
        <p:spPr>
          <a:xfrm>
            <a:off x="823320" y="987120"/>
            <a:ext cx="373680" cy="360"/>
          </a:xfrm>
          <a:prstGeom prst="straightConnector1">
            <a:avLst/>
          </a:prstGeom>
          <a:ln w="19050">
            <a:solidFill>
              <a:srgbClr val="384655"/>
            </a:solidFill>
            <a:round/>
          </a:ln>
        </p:spPr>
      </p:cxnSp>
      <p:grpSp>
        <p:nvGrpSpPr>
          <p:cNvPr id="18" name="Google Shape;347;p36"/>
          <p:cNvGrpSpPr/>
          <p:nvPr/>
        </p:nvGrpSpPr>
        <p:grpSpPr>
          <a:xfrm>
            <a:off x="5115240" y="-428760"/>
            <a:ext cx="4275000" cy="6450480"/>
            <a:chOff x="5115240" y="-428760"/>
            <a:chExt cx="4275000" cy="6450480"/>
          </a:xfrm>
        </p:grpSpPr>
        <p:sp>
          <p:nvSpPr>
            <p:cNvPr id="19" name="Google Shape;348;p36"/>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349;p36"/>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350;p36"/>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351;p36"/>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52;p36"/>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353;p36"/>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354;p36"/>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355;p36"/>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56;p36"/>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57;p36"/>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358;p36"/>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359;p36"/>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360;p36"/>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361;p36"/>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362;p36"/>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363;p36"/>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364;p36"/>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365;p36"/>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366;p36"/>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367;p36"/>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 name="Rectangle 38"/>
          <p:cNvSpPr/>
          <p:nvPr/>
        </p:nvSpPr>
        <p:spPr>
          <a:xfrm>
            <a:off x="714240" y="2043000"/>
            <a:ext cx="4161960" cy="147204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4300" b="1" dirty="0">
                <a:solidFill>
                  <a:srgbClr val="384655"/>
                </a:solidFill>
                <a:latin typeface="Outfit"/>
              </a:rPr>
              <a:t>E</a:t>
            </a:r>
            <a:r>
              <a:rPr lang="en-US" sz="4300" b="1" u="none" strike="noStrike" dirty="0">
                <a:solidFill>
                  <a:srgbClr val="384655"/>
                </a:solidFill>
                <a:effectLst/>
                <a:uFillTx/>
                <a:latin typeface="Outfit"/>
              </a:rPr>
              <a:t>mail Spam Detector</a:t>
            </a:r>
            <a:endParaRPr lang="en-US" sz="4300" b="0" u="none" strike="noStrike" dirty="0">
              <a:solidFill>
                <a:srgbClr val="000000"/>
              </a:solidFill>
              <a:effectLst/>
              <a:uFillTx/>
              <a:latin typeface="OpenSymbol"/>
            </a:endParaRPr>
          </a:p>
        </p:txBody>
      </p:sp>
      <p:sp>
        <p:nvSpPr>
          <p:cNvPr id="40" name="Rectangle 39"/>
          <p:cNvSpPr/>
          <p:nvPr/>
        </p:nvSpPr>
        <p:spPr>
          <a:xfrm>
            <a:off x="714240" y="3543480"/>
            <a:ext cx="4161960" cy="7236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50000"/>
              </a:lnSpc>
              <a:tabLst>
                <a:tab pos="0" algn="l"/>
              </a:tabLst>
            </a:pPr>
            <a:r>
              <a:rPr lang="en-US" sz="1500" b="0" u="none" strike="noStrike">
                <a:solidFill>
                  <a:srgbClr val="384655"/>
                </a:solidFill>
                <a:effectLst/>
                <a:uFillTx/>
                <a:latin typeface="DM Sans"/>
              </a:rPr>
              <a:t>Overview of detection methods and model deployment for robust spam filtering.</a:t>
            </a:r>
            <a:endParaRPr lang="en-US" sz="15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619200" y="978429"/>
            <a:ext cx="7905240" cy="58911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3700" b="0" u="none" strike="noStrike" dirty="0">
                <a:solidFill>
                  <a:srgbClr val="384655"/>
                </a:solidFill>
                <a:effectLst/>
                <a:uFillTx/>
                <a:latin typeface="Outfit"/>
              </a:rPr>
              <a:t>Introduction</a:t>
            </a:r>
            <a:endParaRPr lang="en-US" sz="3700" b="0" u="none" strike="noStrike" dirty="0">
              <a:solidFill>
                <a:srgbClr val="000000"/>
              </a:solidFill>
              <a:effectLst/>
              <a:uFillTx/>
              <a:latin typeface="OpenSymbol"/>
            </a:endParaRPr>
          </a:p>
        </p:txBody>
      </p:sp>
      <p:sp>
        <p:nvSpPr>
          <p:cNvPr id="42" name="Rectangle 41"/>
          <p:cNvSpPr/>
          <p:nvPr/>
        </p:nvSpPr>
        <p:spPr>
          <a:xfrm>
            <a:off x="619200" y="1820636"/>
            <a:ext cx="7905240" cy="17145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dirty="0">
                <a:solidFill>
                  <a:srgbClr val="384655"/>
                </a:solidFill>
                <a:effectLst/>
                <a:uFillTx/>
                <a:latin typeface="DM Sans"/>
              </a:rPr>
              <a:t>Email spam consists of unwanted or fraudulent messages sent to users. These emails may contain advertisements, phishing links, or malware. Since manually filtering spam is difficult, machine learning can automatically classify emails as spam or legitimate (ham), making email communication safer and more efficient.</a:t>
            </a:r>
            <a:endParaRPr lang="en-US" sz="16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619200" y="970263"/>
            <a:ext cx="7905240" cy="605443"/>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3700" b="0" u="none" strike="noStrike" dirty="0">
                <a:solidFill>
                  <a:srgbClr val="384655"/>
                </a:solidFill>
                <a:effectLst/>
                <a:uFillTx/>
                <a:latin typeface="Outfit"/>
              </a:rPr>
              <a:t>Problem Statement</a:t>
            </a:r>
            <a:endParaRPr lang="en-US" sz="3700" b="0" u="none" strike="noStrike" dirty="0">
              <a:solidFill>
                <a:srgbClr val="000000"/>
              </a:solidFill>
              <a:effectLst/>
              <a:uFillTx/>
              <a:latin typeface="OpenSymbol"/>
            </a:endParaRPr>
          </a:p>
        </p:txBody>
      </p:sp>
      <p:sp>
        <p:nvSpPr>
          <p:cNvPr id="44" name="Rectangle 43"/>
          <p:cNvSpPr/>
          <p:nvPr/>
        </p:nvSpPr>
        <p:spPr>
          <a:xfrm>
            <a:off x="619200" y="1905120"/>
            <a:ext cx="7905240" cy="170349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dirty="0">
                <a:solidFill>
                  <a:srgbClr val="384655"/>
                </a:solidFill>
                <a:effectLst/>
                <a:uFillTx/>
                <a:latin typeface="DM Sans"/>
              </a:rPr>
              <a:t>Millions of spam emails are sent every day, wasting users' time and creating security risks. Traditional filtering methods often fail to detect new spam patterns. The objective of this project is to build a machine learning model that accurately identifies spam emails and reduces unwanted messages.</a:t>
            </a:r>
            <a:endParaRPr lang="en-US" sz="1600" b="0" u="none" strike="noStrike" dirty="0">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image_0:slide_img_FDEAoP.jpg"/>
          <p:cNvSpPr/>
          <p:nvPr/>
        </p:nvSpPr>
        <p:spPr>
          <a:xfrm>
            <a:off x="228600" y="257040"/>
            <a:ext cx="4114440" cy="462888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46" name="Rectangle 45"/>
          <p:cNvSpPr/>
          <p:nvPr/>
        </p:nvSpPr>
        <p:spPr>
          <a:xfrm>
            <a:off x="5048280" y="619200"/>
            <a:ext cx="3552480" cy="7617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00000"/>
              </a:lnSpc>
              <a:tabLst>
                <a:tab pos="0" algn="l"/>
              </a:tabLst>
            </a:pPr>
            <a:r>
              <a:rPr lang="en-US" sz="5000" dirty="0">
                <a:solidFill>
                  <a:srgbClr val="384655"/>
                </a:solidFill>
                <a:latin typeface="Outfit"/>
              </a:rPr>
              <a:t>Objective</a:t>
            </a:r>
          </a:p>
        </p:txBody>
      </p:sp>
      <p:sp>
        <p:nvSpPr>
          <p:cNvPr id="47" name="Rectangle 46"/>
          <p:cNvSpPr/>
          <p:nvPr/>
        </p:nvSpPr>
        <p:spPr>
          <a:xfrm>
            <a:off x="4581360" y="1752479"/>
            <a:ext cx="4228920" cy="250927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buClr>
                <a:srgbClr val="384655"/>
              </a:buClr>
              <a:buFont typeface="Calibri"/>
              <a:buChar char="•"/>
            </a:pPr>
            <a:r>
              <a:rPr lang="en-US" sz="1600" b="0" u="none" strike="noStrike" dirty="0">
                <a:solidFill>
                  <a:srgbClr val="384655"/>
                </a:solidFill>
                <a:effectLst/>
                <a:uFillTx/>
                <a:latin typeface="DM Sans"/>
              </a:rPr>
              <a:t> Build an email spam detection system.</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Preprocess and clean email text.</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Train a machine learning classifier.</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Predict whether an email is spam or ham.</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Improve email security through accurate classification and easy-to-use prediction.</a:t>
            </a:r>
            <a:endParaRPr lang="en-US" sz="1600" b="0" u="none" strike="noStrike" dirty="0">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619200" y="762299"/>
            <a:ext cx="7905240" cy="66259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dirty="0">
                <a:solidFill>
                  <a:srgbClr val="384655"/>
                </a:solidFill>
                <a:effectLst/>
                <a:uFillTx/>
                <a:latin typeface="Outfit"/>
              </a:rPr>
              <a:t>Technologies Used</a:t>
            </a:r>
            <a:endParaRPr lang="en-US" sz="2400" b="0" u="none" strike="noStrike" dirty="0">
              <a:solidFill>
                <a:srgbClr val="000000"/>
              </a:solidFill>
              <a:effectLst/>
              <a:uFillTx/>
              <a:latin typeface="OpenSymbol"/>
            </a:endParaRPr>
          </a:p>
        </p:txBody>
      </p:sp>
      <p:sp>
        <p:nvSpPr>
          <p:cNvPr id="49" name="Rectangle 48"/>
          <p:cNvSpPr/>
          <p:nvPr/>
        </p:nvSpPr>
        <p:spPr>
          <a:xfrm>
            <a:off x="619200" y="1281793"/>
            <a:ext cx="7905240" cy="3099408"/>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50000"/>
              </a:lnSpc>
              <a:buClr>
                <a:srgbClr val="384655"/>
              </a:buClr>
              <a:buFont typeface="Calibri"/>
              <a:buChar char="•"/>
            </a:pPr>
            <a:r>
              <a:rPr lang="en-US" sz="1600" b="0" u="none" strike="noStrike" dirty="0">
                <a:solidFill>
                  <a:srgbClr val="384655"/>
                </a:solidFill>
                <a:effectLst/>
                <a:uFillTx/>
                <a:latin typeface="DM Sans"/>
              </a:rPr>
              <a:t> Python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a:t>
            </a:r>
            <a:r>
              <a:rPr lang="en-US" sz="1600" b="0" u="none" strike="noStrike" dirty="0" err="1">
                <a:solidFill>
                  <a:srgbClr val="384655"/>
                </a:solidFill>
                <a:effectLst/>
                <a:uFillTx/>
                <a:latin typeface="DM Sans"/>
              </a:rPr>
              <a:t>Streamlit</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Scikit-learn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Pandas</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NumPy</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NLTK</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Pickle</a:t>
            </a:r>
            <a:endParaRPr lang="en-US" sz="1600" b="0" u="none" strike="noStrike" dirty="0">
              <a:solidFill>
                <a:srgbClr val="000000"/>
              </a:solidFill>
              <a:effectLst/>
              <a:uFillTx/>
              <a:latin typeface="OpenSymbol"/>
            </a:endParaRPr>
          </a:p>
          <a:p>
            <a:pPr defTabSz="914400">
              <a:lnSpc>
                <a:spcPct val="150000"/>
              </a:lnSpc>
              <a:tabLst>
                <a:tab pos="0" algn="l"/>
              </a:tabLst>
            </a:pPr>
            <a:r>
              <a:rPr lang="en-US" sz="1600" b="0" u="none" strike="noStrike" dirty="0">
                <a:solidFill>
                  <a:srgbClr val="384655"/>
                </a:solidFill>
                <a:effectLst/>
                <a:uFillTx/>
                <a:latin typeface="DM Sans"/>
              </a:rPr>
              <a:t>These tools are used for data preprocessing, feature extraction, model training, and creating an interactive web application.</a:t>
            </a:r>
            <a:endParaRPr lang="en-US" sz="1600"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619198" y="822799"/>
            <a:ext cx="3476161" cy="678921"/>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2700" b="0" u="none" strike="noStrike" dirty="0">
                <a:solidFill>
                  <a:srgbClr val="384655"/>
                </a:solidFill>
                <a:effectLst/>
                <a:uFillTx/>
                <a:latin typeface="Outfit"/>
              </a:rPr>
              <a:t>Working of the System</a:t>
            </a:r>
            <a:endParaRPr lang="en-US" sz="2700" b="0" u="none" strike="noStrike" dirty="0">
              <a:solidFill>
                <a:srgbClr val="000000"/>
              </a:solidFill>
              <a:effectLst/>
              <a:uFillTx/>
              <a:latin typeface="OpenSymbol"/>
            </a:endParaRPr>
          </a:p>
        </p:txBody>
      </p:sp>
      <p:sp>
        <p:nvSpPr>
          <p:cNvPr id="52" name="Rectangle 51"/>
          <p:cNvSpPr/>
          <p:nvPr/>
        </p:nvSpPr>
        <p:spPr>
          <a:xfrm>
            <a:off x="619200" y="1390680"/>
            <a:ext cx="3476160" cy="259056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50000"/>
              </a:lnSpc>
              <a:tabLst>
                <a:tab pos="0" algn="l"/>
              </a:tabLst>
            </a:pPr>
            <a:r>
              <a:rPr lang="en-US" sz="1600" b="0" u="none" strike="noStrike" dirty="0">
                <a:solidFill>
                  <a:srgbClr val="384655"/>
                </a:solidFill>
                <a:effectLst/>
                <a:uFillTx/>
                <a:latin typeface="DM Sans"/>
              </a:rPr>
              <a:t>The user enters an email message into the application. The text is cleaned by removing punctuation and stop words. It is then converted into numerical features using TF-IDF. Finally, the trained machine learning model predicts whether the email is spam or ham.</a:t>
            </a:r>
            <a:endParaRPr lang="en-US" sz="16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ED440165-A626-A891-9307-3AD2E7DEAFA1}"/>
              </a:ext>
            </a:extLst>
          </p:cNvPr>
          <p:cNvPicPr>
            <a:picLocks noChangeAspect="1"/>
          </p:cNvPicPr>
          <p:nvPr/>
        </p:nvPicPr>
        <p:blipFill>
          <a:blip r:embed="rId2"/>
          <a:srcRect l="15677" t="22155" r="16790"/>
          <a:stretch>
            <a:fillRect/>
          </a:stretch>
        </p:blipFill>
        <p:spPr>
          <a:xfrm>
            <a:off x="4095360" y="501237"/>
            <a:ext cx="4753440" cy="39423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619200" y="1011085"/>
            <a:ext cx="7905240" cy="801386"/>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700" b="0" u="none" strike="noStrike" dirty="0">
                <a:solidFill>
                  <a:srgbClr val="384655"/>
                </a:solidFill>
                <a:effectLst/>
                <a:uFillTx/>
                <a:latin typeface="Outfit"/>
              </a:rPr>
              <a:t>Machine Learning Model</a:t>
            </a:r>
            <a:endParaRPr lang="en-US" sz="3700" b="0" u="none" strike="noStrike" dirty="0">
              <a:solidFill>
                <a:srgbClr val="000000"/>
              </a:solidFill>
              <a:effectLst/>
              <a:uFillTx/>
              <a:latin typeface="OpenSymbol"/>
            </a:endParaRPr>
          </a:p>
        </p:txBody>
      </p:sp>
      <p:sp>
        <p:nvSpPr>
          <p:cNvPr id="54" name="Rectangle 53"/>
          <p:cNvSpPr/>
          <p:nvPr/>
        </p:nvSpPr>
        <p:spPr>
          <a:xfrm>
            <a:off x="619200" y="1905119"/>
            <a:ext cx="7905240" cy="161368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dirty="0">
                <a:solidFill>
                  <a:srgbClr val="384655"/>
                </a:solidFill>
                <a:effectLst/>
                <a:uFillTx/>
                <a:latin typeface="DM Sans"/>
              </a:rPr>
              <a:t>The project uses the </a:t>
            </a:r>
            <a:r>
              <a:rPr lang="en-US" sz="1600" u="none" strike="noStrike" dirty="0">
                <a:solidFill>
                  <a:srgbClr val="384655"/>
                </a:solidFill>
                <a:effectLst/>
                <a:uFillTx/>
                <a:latin typeface="DM Sans"/>
              </a:rPr>
              <a:t>Multinomial Naive Bayes</a:t>
            </a:r>
            <a:r>
              <a:rPr lang="en-US" sz="1600" b="0" u="none" strike="noStrike" dirty="0">
                <a:solidFill>
                  <a:srgbClr val="384655"/>
                </a:solidFill>
                <a:effectLst/>
                <a:uFillTx/>
                <a:latin typeface="DM Sans"/>
              </a:rPr>
              <a:t> algorithm because it performs well on text classification problems. The model is trained using labeled email data and learns patterns that distinguish spam messages from genuine emails, providing fast and accurate predictions.</a:t>
            </a:r>
            <a:endParaRPr lang="en-US" sz="1600" b="0" u="none" strike="noStrike" dirty="0">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p:cNvSpPr/>
          <p:nvPr/>
        </p:nvSpPr>
        <p:spPr>
          <a:xfrm>
            <a:off x="619200" y="619200"/>
            <a:ext cx="2142720" cy="9140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5000" b="0" u="none" strike="noStrike" dirty="0">
              <a:solidFill>
                <a:srgbClr val="000000"/>
              </a:solidFill>
              <a:effectLst/>
              <a:uFillTx/>
              <a:latin typeface="OpenSymbol"/>
            </a:endParaRPr>
          </a:p>
        </p:txBody>
      </p:sp>
      <p:sp>
        <p:nvSpPr>
          <p:cNvPr id="57" name="Rectangle 56"/>
          <p:cNvSpPr/>
          <p:nvPr/>
        </p:nvSpPr>
        <p:spPr>
          <a:xfrm>
            <a:off x="457200" y="904680"/>
            <a:ext cx="3476160" cy="6091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00000"/>
              </a:lnSpc>
              <a:tabLst>
                <a:tab pos="0" algn="l"/>
              </a:tabLst>
            </a:pPr>
            <a:r>
              <a:rPr lang="en-US" sz="4000" b="0" u="none" strike="noStrike" dirty="0">
                <a:solidFill>
                  <a:srgbClr val="384655"/>
                </a:solidFill>
                <a:effectLst/>
                <a:uFillTx/>
                <a:latin typeface="Outfit"/>
              </a:rPr>
              <a:t>Features</a:t>
            </a:r>
            <a:endParaRPr lang="en-US" sz="4000" b="0" u="none" strike="noStrike" dirty="0">
              <a:solidFill>
                <a:srgbClr val="000000"/>
              </a:solidFill>
              <a:effectLst/>
              <a:uFillTx/>
              <a:latin typeface="OpenSymbol"/>
            </a:endParaRPr>
          </a:p>
        </p:txBody>
      </p:sp>
      <p:sp>
        <p:nvSpPr>
          <p:cNvPr id="58" name="Rectangle 57"/>
          <p:cNvSpPr/>
          <p:nvPr/>
        </p:nvSpPr>
        <p:spPr>
          <a:xfrm>
            <a:off x="457200" y="1691858"/>
            <a:ext cx="3771720" cy="2832441"/>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buClr>
                <a:srgbClr val="384655"/>
              </a:buClr>
              <a:buFont typeface="Calibri"/>
              <a:buChar char="•"/>
            </a:pPr>
            <a:r>
              <a:rPr lang="en-US" sz="1600" b="0" u="none" strike="noStrike" dirty="0">
                <a:solidFill>
                  <a:srgbClr val="384655"/>
                </a:solidFill>
                <a:effectLst/>
                <a:uFillTx/>
                <a:latin typeface="DM Sans"/>
              </a:rPr>
              <a:t> User-friendly </a:t>
            </a:r>
            <a:r>
              <a:rPr lang="en-US" sz="1600" b="0" u="none" strike="noStrike" dirty="0" err="1">
                <a:solidFill>
                  <a:srgbClr val="384655"/>
                </a:solidFill>
                <a:effectLst/>
                <a:uFillTx/>
                <a:latin typeface="DM Sans"/>
              </a:rPr>
              <a:t>Streamlit</a:t>
            </a:r>
            <a:r>
              <a:rPr lang="en-US" sz="1600" b="0" u="none" strike="noStrike" dirty="0">
                <a:solidFill>
                  <a:srgbClr val="384655"/>
                </a:solidFill>
                <a:effectLst/>
                <a:uFillTx/>
                <a:latin typeface="DM Sans"/>
              </a:rPr>
              <a:t> interface</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Instant spam prediction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Text preprocessing</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TF-IDF feature extraction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Fast classification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High prediction accuracy</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Lightweight and easy to deploy</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Works with custom email input</a:t>
            </a:r>
            <a:endParaRPr lang="en-US" sz="1600" b="0" u="none" strike="noStrike" dirty="0">
              <a:solidFill>
                <a:srgbClr val="000000"/>
              </a:solidFill>
              <a:effectLst/>
              <a:uFillTx/>
              <a:latin typeface="OpenSymbol"/>
            </a:endParaRPr>
          </a:p>
        </p:txBody>
      </p:sp>
      <p:pic>
        <p:nvPicPr>
          <p:cNvPr id="5" name="Picture 4">
            <a:extLst>
              <a:ext uri="{FF2B5EF4-FFF2-40B4-BE49-F238E27FC236}">
                <a16:creationId xmlns:a16="http://schemas.microsoft.com/office/drawing/2014/main" id="{22FFB474-BCEF-35CD-F384-0D019413CBB3}"/>
              </a:ext>
            </a:extLst>
          </p:cNvPr>
          <p:cNvPicPr>
            <a:picLocks noChangeAspect="1"/>
          </p:cNvPicPr>
          <p:nvPr/>
        </p:nvPicPr>
        <p:blipFill>
          <a:blip r:embed="rId2"/>
          <a:srcRect l="2315" r="2652"/>
          <a:stretch>
            <a:fillRect/>
          </a:stretch>
        </p:blipFill>
        <p:spPr>
          <a:xfrm>
            <a:off x="3933360" y="619200"/>
            <a:ext cx="4679961" cy="41344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619200" y="952739"/>
            <a:ext cx="7905240" cy="541325"/>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3700" b="0" u="none" strike="noStrike" dirty="0">
                <a:solidFill>
                  <a:srgbClr val="384655"/>
                </a:solidFill>
                <a:effectLst/>
                <a:uFillTx/>
                <a:latin typeface="Outfit"/>
              </a:rPr>
              <a:t>Advantages</a:t>
            </a:r>
            <a:endParaRPr lang="en-US" sz="3700" b="0" u="none" strike="noStrike" dirty="0">
              <a:solidFill>
                <a:srgbClr val="000000"/>
              </a:solidFill>
              <a:effectLst/>
              <a:uFillTx/>
              <a:latin typeface="OpenSymbol"/>
            </a:endParaRPr>
          </a:p>
        </p:txBody>
      </p:sp>
      <p:sp>
        <p:nvSpPr>
          <p:cNvPr id="60" name="Rectangle 59"/>
          <p:cNvSpPr/>
          <p:nvPr/>
        </p:nvSpPr>
        <p:spPr>
          <a:xfrm>
            <a:off x="619200" y="1733669"/>
            <a:ext cx="7905240" cy="2634223"/>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50000"/>
              </a:lnSpc>
              <a:buClr>
                <a:srgbClr val="384655"/>
              </a:buClr>
              <a:buFont typeface="Calibri"/>
              <a:buChar char="•"/>
            </a:pPr>
            <a:r>
              <a:rPr lang="en-US" sz="1600" b="0" u="none" strike="noStrike" dirty="0">
                <a:solidFill>
                  <a:srgbClr val="384655"/>
                </a:solidFill>
                <a:effectLst/>
                <a:uFillTx/>
                <a:latin typeface="DM Sans"/>
              </a:rPr>
              <a:t> Saves users' time.</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Reduces unwanted emails.</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Helps prevent phishing attacks.</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Improves inbox organization.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Fast and efficient predictions.</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Easy to use and maintain.</a:t>
            </a:r>
            <a:endParaRPr lang="en-US" sz="1600" b="0" u="none" strike="noStrike" dirty="0">
              <a:solidFill>
                <a:srgbClr val="000000"/>
              </a:solidFill>
              <a:effectLst/>
              <a:uFillTx/>
              <a:latin typeface="OpenSymbol"/>
            </a:endParaRPr>
          </a:p>
          <a:p>
            <a:pPr defTabSz="914400">
              <a:lnSpc>
                <a:spcPct val="150000"/>
              </a:lnSpc>
              <a:buClr>
                <a:srgbClr val="384655"/>
              </a:buClr>
              <a:buFont typeface="Calibri"/>
              <a:buChar char="•"/>
            </a:pPr>
            <a:r>
              <a:rPr lang="en-US" sz="1600" b="0" u="none" strike="noStrike" dirty="0">
                <a:solidFill>
                  <a:srgbClr val="384655"/>
                </a:solidFill>
                <a:effectLst/>
                <a:uFillTx/>
                <a:latin typeface="DM Sans"/>
              </a:rPr>
              <a:t> Can be updated with new training</a:t>
            </a:r>
          </a:p>
          <a:p>
            <a:pPr defTabSz="914400">
              <a:lnSpc>
                <a:spcPct val="150000"/>
              </a:lnSpc>
              <a:buClr>
                <a:srgbClr val="384655"/>
              </a:buClr>
            </a:pPr>
            <a:r>
              <a:rPr lang="en-US" sz="1600" b="0" u="none" strike="noStrike" dirty="0">
                <a:solidFill>
                  <a:srgbClr val="384655"/>
                </a:solidFill>
                <a:effectLst/>
                <a:uFillTx/>
                <a:latin typeface="DM Sans"/>
              </a:rPr>
              <a:t>data for better performance.</a:t>
            </a:r>
            <a:endParaRPr lang="en-US" sz="16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38A10887-7DAD-EDA9-5556-1F24BBC9495E}"/>
              </a:ext>
            </a:extLst>
          </p:cNvPr>
          <p:cNvPicPr>
            <a:picLocks noChangeAspect="1"/>
          </p:cNvPicPr>
          <p:nvPr/>
        </p:nvPicPr>
        <p:blipFill>
          <a:blip r:embed="rId2"/>
          <a:srcRect l="4150" t="2166" b="1533"/>
          <a:stretch>
            <a:fillRect/>
          </a:stretch>
        </p:blipFill>
        <p:spPr>
          <a:xfrm>
            <a:off x="4082142" y="775608"/>
            <a:ext cx="4718958" cy="35922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619200" y="923760"/>
            <a:ext cx="7905240" cy="553976"/>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3700" b="0" u="none" strike="noStrike" dirty="0">
                <a:solidFill>
                  <a:srgbClr val="384655"/>
                </a:solidFill>
                <a:effectLst/>
                <a:uFillTx/>
                <a:latin typeface="Outfit"/>
              </a:rPr>
              <a:t>Future Scope</a:t>
            </a:r>
            <a:endParaRPr lang="en-US" sz="3700" b="0" u="none" strike="noStrike" dirty="0">
              <a:solidFill>
                <a:srgbClr val="000000"/>
              </a:solidFill>
              <a:effectLst/>
              <a:uFillTx/>
              <a:latin typeface="OpenSymbol"/>
            </a:endParaRPr>
          </a:p>
        </p:txBody>
      </p:sp>
      <p:sp>
        <p:nvSpPr>
          <p:cNvPr id="62" name="Rectangle 61"/>
          <p:cNvSpPr/>
          <p:nvPr/>
        </p:nvSpPr>
        <p:spPr>
          <a:xfrm>
            <a:off x="619200" y="1684594"/>
            <a:ext cx="7905240" cy="166276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dirty="0">
                <a:solidFill>
                  <a:srgbClr val="384655"/>
                </a:solidFill>
                <a:effectLst/>
                <a:uFillTx/>
                <a:latin typeface="DM Sans"/>
              </a:rPr>
              <a:t>Future improvements include adding deep learning models, detecting phishing emails more accurately, supporting multiple languages, integrating with email platforms, and continuously retraining the model with new datasets to improve accuracy against evolving spam techniques.</a:t>
            </a:r>
            <a:endParaRPr lang="en-US" sz="1600" b="0" u="none" strike="noStrike" dirty="0">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619200" y="895319"/>
            <a:ext cx="7905240" cy="84367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700" b="0" u="none" strike="noStrike" dirty="0">
                <a:solidFill>
                  <a:srgbClr val="384655"/>
                </a:solidFill>
                <a:effectLst/>
                <a:uFillTx/>
                <a:latin typeface="Outfit"/>
              </a:rPr>
              <a:t>Conclusion</a:t>
            </a:r>
            <a:endParaRPr lang="en-US" sz="3700" b="0" u="none" strike="noStrike" dirty="0">
              <a:solidFill>
                <a:srgbClr val="000000"/>
              </a:solidFill>
              <a:effectLst/>
              <a:uFillTx/>
              <a:latin typeface="OpenSymbol"/>
            </a:endParaRPr>
          </a:p>
        </p:txBody>
      </p:sp>
      <p:sp>
        <p:nvSpPr>
          <p:cNvPr id="67" name="Rectangle 66"/>
          <p:cNvSpPr/>
          <p:nvPr/>
        </p:nvSpPr>
        <p:spPr>
          <a:xfrm>
            <a:off x="619200" y="1738993"/>
            <a:ext cx="7905240" cy="224517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600" b="0" u="none" strike="noStrike" dirty="0">
                <a:solidFill>
                  <a:srgbClr val="384655"/>
                </a:solidFill>
                <a:effectLst/>
                <a:uFillTx/>
                <a:latin typeface="DM Sans"/>
              </a:rPr>
              <a:t>The Email Spam Detector demonstrates how machine learning can automate email classification effectively. By combining text preprocessing, TF-IDF vectorization, and the Naive Bayes algorithm, the system accurately identifies spam messages. It provides a practical solution that enhances email security and improves the overall user experience.</a:t>
            </a:r>
            <a:endParaRPr lang="en-US" sz="1600" b="0" u="none" strike="noStrike" dirty="0">
              <a:solidFill>
                <a:srgbClr val="000000"/>
              </a:solidFill>
              <a:effectLst/>
              <a:uFillTx/>
              <a:latin typeface="OpenSymbol"/>
            </a:endParaRPr>
          </a:p>
        </p:txBody>
      </p: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1016</TotalTime>
  <Words>474</Words>
  <Application>Microsoft Office PowerPoint</Application>
  <PresentationFormat>On-screen Show (16:9)</PresentationFormat>
  <Paragraphs>47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DM Sans</vt:lpstr>
      <vt:lpstr>OpenSymbol</vt:lpstr>
      <vt:lpstr>Outfit</vt:lpstr>
      <vt:lpstr>Symbol</vt:lpstr>
      <vt:lpstr>Wingdings</vt:lpstr>
      <vt:lpstr>Data Collection and Analysis - Master of Science in Community Health and Prevention Research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Mridula Singh</cp:lastModifiedBy>
  <cp:revision>2</cp:revision>
  <dcterms:modified xsi:type="dcterms:W3CDTF">2026-07-09T09:25:54Z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2026-07-08T16:24:25Z</dcterms:created>
  <dc:creator>Slidesgo AI</dc:creator>
  <dc:description/>
  <dc:language>en-US</dc:language>
  <cp:lastModifiedBy>Unknown Creator</cp:lastModifiedBy>
  <dcterms:modified xsi:type="dcterms:W3CDTF">2026-07-08T16:24:25Z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y fmtid="{D5CDD505-2E9C-101B-9397-08002B2CF9AE}" pid="3" name="SlidesgoGeneratedBy">
    <vt:lpwstr>slidesgo-ai</vt:lpwstr>
  </property>
  <property fmtid="{D5CDD505-2E9C-101B-9397-08002B2CF9AE}" pid="4" name="SlidesgoPresentationUuid">
    <vt:lpwstr>a235dd1b-cb1e-4671-8e96-1581ca8be93b</vt:lpwstr>
  </property>
</Properties>
</file>